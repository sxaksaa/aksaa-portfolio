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4191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5669280" cy="2011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4400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Akbar</a:t>
            </a:r>
            <a:endParaRPr lang="en-US" sz="4400" dirty="0"/>
          </a:p>
          <a:p>
            <a:pPr marL="0" indent="0">
              <a:buNone/>
            </a:pPr>
            <a:r>
              <a:rPr lang="en-US" sz="4400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Salahudin</a:t>
            </a:r>
            <a:endParaRPr lang="en-US" sz="4400" dirty="0"/>
          </a:p>
          <a:p>
            <a:pPr marL="0" indent="0">
              <a:buNone/>
            </a:pPr>
            <a:r>
              <a:rPr lang="en-US" sz="4400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Purnomo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3337560"/>
            <a:ext cx="51206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Junior Laravel Full Stack Developer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13232" y="4041648"/>
            <a:ext cx="822960" cy="64008"/>
          </a:xfrm>
          <a:prstGeom prst="rect">
            <a:avLst/>
          </a:prstGeom>
          <a:solidFill>
            <a:srgbClr val="6F8F72"/>
          </a:solidFill>
          <a:ln w="12700">
            <a:solidFill>
              <a:srgbClr val="6F8F7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4041648"/>
            <a:ext cx="164592" cy="64008"/>
          </a:xfrm>
          <a:prstGeom prst="rect">
            <a:avLst/>
          </a:prstGeom>
          <a:solidFill>
            <a:srgbClr val="8A744E"/>
          </a:solidFill>
          <a:ln w="12700">
            <a:solidFill>
              <a:srgbClr val="8A744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60920" y="1508760"/>
            <a:ext cx="4069080" cy="3333206"/>
          </a:xfrm>
          <a:prstGeom prst="roundRect">
            <a:avLst>
              <a:gd name="adj" fmla="val 2500"/>
            </a:avLst>
          </a:prstGeom>
          <a:solidFill>
            <a:srgbClr val="FBF7EF"/>
          </a:solidFill>
          <a:ln w="10160">
            <a:solidFill>
              <a:srgbClr val="D7CC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3524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F2933"/>
                </a:solidFill>
              </a:rPr>
              <a:t>Kontak dan Tautan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35240" y="24231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470"/>
                </a:solidFill>
              </a:rPr>
              <a:t>Portofolio Live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35240" y="264261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</a:rPr>
              <a:t>aksa.work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35240" y="29900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470"/>
                </a:solidFill>
              </a:rPr>
              <a:t>GitHub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635240" y="320954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</a:rPr>
              <a:t>github.com/sxaksaa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35240" y="355701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470"/>
                </a:solidFill>
              </a:rPr>
              <a:t>Email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635240" y="377647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</a:rPr>
              <a:t>akbarsalahudinpurnomo@gmail.com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35240" y="412394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470"/>
                </a:solidFill>
              </a:rPr>
              <a:t>Telepon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35240" y="434340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</a:rPr>
              <a:t>+6287784727890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3232" y="5897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D6470"/>
                </a:solidFill>
              </a:rPr>
              <a:t>Portfolio slide deck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92840" y="63550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A744E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AKBAR SALAHUDIN PURNOMO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543800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Tentang Saya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01400" y="2834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A74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155680" cy="0"/>
          </a:xfrm>
          <a:prstGeom prst="line">
            <a:avLst/>
          </a:prstGeom>
          <a:noFill/>
          <a:ln w="7620">
            <a:solidFill>
              <a:srgbClr val="D7CC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801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Tentang</a:t>
            </a:r>
            <a:endParaRPr lang="en-US" sz="4200" dirty="0"/>
          </a:p>
          <a:p>
            <a:pPr marL="0" indent="0">
              <a:buNone/>
            </a:pPr>
            <a:r>
              <a:rPr lang="en-US" sz="4200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Saya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4617720" y="2880360"/>
            <a:ext cx="6309360" cy="2286000"/>
          </a:xfrm>
          <a:prstGeom prst="roundRect">
            <a:avLst>
              <a:gd name="adj" fmla="val 3200"/>
            </a:avLst>
          </a:prstGeom>
          <a:solidFill>
            <a:srgbClr val="FBF7EF"/>
          </a:solidFill>
          <a:ln w="10160">
            <a:solidFill>
              <a:srgbClr val="D7CC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53394" y="2423160"/>
            <a:ext cx="6807926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292840" y="63550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A744E"/>
                </a:solidFill>
              </a:rPr>
              <a:t>02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889863" y="3154680"/>
            <a:ext cx="5945777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r>
              <a:rPr lang="en-ID" sz="1600" dirty="0" err="1"/>
              <a:t>Mahasiswa</a:t>
            </a:r>
            <a:r>
              <a:rPr lang="en-ID" sz="1600" dirty="0"/>
              <a:t> D3 </a:t>
            </a:r>
            <a:r>
              <a:rPr lang="en-ID" sz="1600" dirty="0" err="1"/>
              <a:t>Teknologi</a:t>
            </a:r>
            <a:r>
              <a:rPr lang="en-ID" sz="1600" dirty="0"/>
              <a:t> </a:t>
            </a:r>
            <a:r>
              <a:rPr lang="en-ID" sz="1600" dirty="0" err="1"/>
              <a:t>Informasi</a:t>
            </a:r>
            <a:r>
              <a:rPr lang="en-ID" sz="1600" dirty="0"/>
              <a:t> Universitas </a:t>
            </a:r>
            <a:r>
              <a:rPr lang="en-ID" sz="1600" dirty="0" err="1"/>
              <a:t>Brawijaya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ketertarikan</a:t>
            </a:r>
            <a:r>
              <a:rPr lang="en-ID" sz="1600" dirty="0"/>
              <a:t> pada </a:t>
            </a:r>
            <a:r>
              <a:rPr lang="en-ID" sz="1600" dirty="0" err="1"/>
              <a:t>pengembangan</a:t>
            </a:r>
            <a:r>
              <a:rPr lang="en-ID" sz="1600" dirty="0"/>
              <a:t> web </a:t>
            </a:r>
            <a:r>
              <a:rPr lang="en-ID" sz="1600" dirty="0" err="1"/>
              <a:t>fullstack</a:t>
            </a:r>
            <a:r>
              <a:rPr lang="en-ID" sz="1600" dirty="0"/>
              <a:t>. </a:t>
            </a:r>
            <a:r>
              <a:rPr lang="en-ID" sz="1600" dirty="0" err="1"/>
              <a:t>Memiliki</a:t>
            </a:r>
            <a:r>
              <a:rPr lang="en-ID" sz="1600" dirty="0"/>
              <a:t> </a:t>
            </a:r>
            <a:r>
              <a:rPr lang="en-ID" sz="1600" dirty="0" err="1"/>
              <a:t>pengalaman</a:t>
            </a:r>
            <a:r>
              <a:rPr lang="en-ID" sz="1600" dirty="0"/>
              <a:t> </a:t>
            </a:r>
            <a:r>
              <a:rPr lang="en-ID" sz="1600" dirty="0" err="1"/>
              <a:t>membangun</a:t>
            </a:r>
            <a:r>
              <a:rPr lang="en-ID" sz="1600" dirty="0"/>
              <a:t> dan </a:t>
            </a:r>
            <a:r>
              <a:rPr lang="en-ID" sz="1600" dirty="0" err="1"/>
              <a:t>mendeploy</a:t>
            </a:r>
            <a:r>
              <a:rPr lang="en-ID" sz="1600" dirty="0"/>
              <a:t> </a:t>
            </a:r>
            <a:r>
              <a:rPr lang="en-ID" sz="1600" dirty="0" err="1"/>
              <a:t>aplikasi</a:t>
            </a:r>
            <a:r>
              <a:rPr lang="en-ID" sz="1600" dirty="0"/>
              <a:t> web </a:t>
            </a:r>
            <a:r>
              <a:rPr lang="en-ID" sz="1600" dirty="0" err="1"/>
              <a:t>menggunakan</a:t>
            </a:r>
            <a:r>
              <a:rPr lang="en-ID" sz="1600" dirty="0"/>
              <a:t> Laravel, PHP, MySQL, JavaScript, </a:t>
            </a:r>
            <a:r>
              <a:rPr lang="en-ID" sz="1600" dirty="0" err="1"/>
              <a:t>serta</a:t>
            </a:r>
            <a:r>
              <a:rPr lang="en-ID" sz="1600" dirty="0"/>
              <a:t> REST API </a:t>
            </a:r>
            <a:r>
              <a:rPr lang="en-ID" sz="1600" dirty="0" err="1"/>
              <a:t>melalui</a:t>
            </a:r>
            <a:r>
              <a:rPr lang="en-ID" sz="1600" dirty="0"/>
              <a:t> </a:t>
            </a:r>
            <a:r>
              <a:rPr lang="en-ID" sz="1600" dirty="0" err="1"/>
              <a:t>berbagai</a:t>
            </a:r>
            <a:r>
              <a:rPr lang="en-ID" sz="1600" dirty="0"/>
              <a:t> project </a:t>
            </a:r>
            <a:r>
              <a:rPr lang="en-ID" sz="1600" dirty="0" err="1"/>
              <a:t>seperti</a:t>
            </a:r>
            <a:r>
              <a:rPr lang="en-ID" sz="1600" dirty="0"/>
              <a:t> platform digital license, e-commerce fashion, dan video learning platform. </a:t>
            </a:r>
            <a:r>
              <a:rPr lang="en-ID" sz="1600" dirty="0" err="1"/>
              <a:t>Terbiasa</a:t>
            </a:r>
            <a:r>
              <a:rPr lang="en-ID" sz="1600" dirty="0"/>
              <a:t> </a:t>
            </a:r>
            <a:r>
              <a:rPr lang="en-ID" sz="1600" dirty="0" err="1"/>
              <a:t>menggunakan</a:t>
            </a:r>
            <a:r>
              <a:rPr lang="en-ID" sz="1600" dirty="0"/>
              <a:t> Git/GitHub, </a:t>
            </a:r>
            <a:r>
              <a:rPr lang="en-ID" sz="1600" dirty="0" err="1"/>
              <a:t>merancang</a:t>
            </a:r>
            <a:r>
              <a:rPr lang="en-ID" sz="1600" dirty="0"/>
              <a:t> database, </a:t>
            </a:r>
            <a:r>
              <a:rPr lang="en-ID" sz="1600" dirty="0" err="1"/>
              <a:t>mengintegrasikan</a:t>
            </a:r>
            <a:r>
              <a:rPr lang="en-ID" sz="1600" dirty="0"/>
              <a:t> API </a:t>
            </a:r>
            <a:r>
              <a:rPr lang="en-ID" sz="1600" dirty="0" err="1"/>
              <a:t>pihak</a:t>
            </a:r>
            <a:r>
              <a:rPr lang="en-ID" sz="1600" dirty="0"/>
              <a:t> </a:t>
            </a:r>
            <a:r>
              <a:rPr lang="en-ID" sz="1600" dirty="0" err="1"/>
              <a:t>ketiga</a:t>
            </a:r>
            <a:r>
              <a:rPr lang="en-ID" sz="1600" dirty="0"/>
              <a:t>, dan </a:t>
            </a:r>
            <a:r>
              <a:rPr lang="en-ID" sz="1600" dirty="0" err="1"/>
              <a:t>membangun</a:t>
            </a:r>
            <a:r>
              <a:rPr lang="en-ID" sz="1600" dirty="0"/>
              <a:t> </a:t>
            </a:r>
            <a:r>
              <a:rPr lang="en-ID" sz="1600" dirty="0" err="1"/>
              <a:t>antarmuka</a:t>
            </a:r>
            <a:r>
              <a:rPr lang="en-ID" sz="1600" dirty="0"/>
              <a:t> web yang </a:t>
            </a:r>
            <a:r>
              <a:rPr lang="en-ID" sz="1600" dirty="0" err="1"/>
              <a:t>responsif</a:t>
            </a:r>
            <a:r>
              <a:rPr lang="en-ID" sz="1600" dirty="0"/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AKBAR SALAHUDIN PURNOMO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543800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Keahlian Teknis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01400" y="2834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A74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155680" cy="0"/>
          </a:xfrm>
          <a:prstGeom prst="line">
            <a:avLst/>
          </a:prstGeom>
          <a:noFill/>
          <a:ln w="7620">
            <a:solidFill>
              <a:srgbClr val="D7CC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058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Keahlian</a:t>
            </a:r>
            <a:endParaRPr lang="en-US" sz="3800" dirty="0"/>
          </a:p>
          <a:p>
            <a:pPr marL="0" indent="0">
              <a:buNone/>
            </a:pPr>
            <a:r>
              <a:rPr lang="en-US" sz="3800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Teknis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13232" y="25146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D6470"/>
                </a:solidFill>
              </a:rPr>
              <a:t>Stack yang digunakan untuk membangun, mengelola, dan mendeploy aplikasi web full stack.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06240" y="105156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BF7EF"/>
          </a:solidFill>
          <a:ln w="10160">
            <a:solidFill>
              <a:srgbClr val="D7CC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07408" y="12161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</a:rPr>
              <a:t>Backend Development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07408" y="16642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8A744E"/>
                </a:solidFill>
              </a:rPr>
              <a:t>PHP  •  Laravel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269480" y="105156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BF7EF"/>
          </a:solidFill>
          <a:ln w="10160">
            <a:solidFill>
              <a:srgbClr val="D7CC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70648" y="12161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</a:rPr>
              <a:t>Frontend Development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70648" y="16642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8A744E"/>
                </a:solidFill>
              </a:rPr>
              <a:t>HTML  •  CSS  •  JavaScript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06240" y="265176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BF7EF"/>
          </a:solidFill>
          <a:ln w="10160">
            <a:solidFill>
              <a:srgbClr val="D7CC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408" y="28163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</a:rPr>
              <a:t>Database Management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07408" y="32644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8A744E"/>
                </a:solidFill>
              </a:rPr>
              <a:t>MySQL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69480" y="265176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BF7EF"/>
          </a:solidFill>
          <a:ln w="10160">
            <a:solidFill>
              <a:srgbClr val="D7CC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0648" y="28163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</a:rPr>
              <a:t>Tools &amp; Deployment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70648" y="32644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8A744E"/>
                </a:solidFill>
              </a:rPr>
              <a:t>GitHub  •  Railway  •  Vercel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06240" y="4416552"/>
            <a:ext cx="5897880" cy="914400"/>
          </a:xfrm>
          <a:prstGeom prst="roundRect">
            <a:avLst>
              <a:gd name="adj" fmla="val 8000"/>
            </a:avLst>
          </a:prstGeom>
          <a:solidFill>
            <a:srgbClr val="F1E7DA"/>
          </a:solidFill>
          <a:ln w="10160">
            <a:solidFill>
              <a:srgbClr val="D7CCBB"/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sp>
        <p:nvSpPr>
          <p:cNvPr id="21" name="Text 19"/>
          <p:cNvSpPr/>
          <p:nvPr/>
        </p:nvSpPr>
        <p:spPr>
          <a:xfrm>
            <a:off x="4480560" y="45902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3"/>
                </a:solidFill>
              </a:rPr>
              <a:t>UI/UX + Core Value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480560" y="48920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8A744E"/>
                </a:solidFill>
              </a:rPr>
              <a:t>Membangun interface yang bersih, responsive, mudah dipahami pengguna, dan mudah dikelola dari sisi admin.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11292840" y="63550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A744E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AKBAR SALAHUDIN PURNOMO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543800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Pengalaman Proyek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01400" y="2834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A74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155680" cy="0"/>
          </a:xfrm>
          <a:prstGeom prst="line">
            <a:avLst/>
          </a:prstGeom>
          <a:noFill/>
          <a:ln w="7620">
            <a:solidFill>
              <a:srgbClr val="D7CC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5156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</a:t>
            </a:r>
            <a:endParaRPr lang="en-US" sz="3800" dirty="0"/>
          </a:p>
          <a:p>
            <a:pPr marL="0" indent="0">
              <a:buNone/>
            </a:pPr>
            <a:r>
              <a:rPr lang="en-US" sz="3800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Highlights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13232" y="25146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D6470"/>
                </a:solidFill>
              </a:rPr>
              <a:t>Tiga proyek utama yang menunjukkan kemampuan full stack: storefront, pembelajaran digital, dan e-commerce.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343400" y="960120"/>
            <a:ext cx="7040880" cy="1417320"/>
          </a:xfrm>
          <a:prstGeom prst="roundRect">
            <a:avLst>
              <a:gd name="adj" fmla="val 5161"/>
            </a:avLst>
          </a:prstGeom>
          <a:solidFill>
            <a:srgbClr val="FBF7EF"/>
          </a:solidFill>
          <a:ln w="10160">
            <a:solidFill>
              <a:srgbClr val="D7CC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7992" y="11430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8A74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276088" y="1143000"/>
            <a:ext cx="0" cy="1051560"/>
          </a:xfrm>
          <a:prstGeom prst="line">
            <a:avLst/>
          </a:prstGeom>
          <a:noFill/>
          <a:ln w="12700">
            <a:solidFill>
              <a:srgbClr val="D7CC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1124712"/>
            <a:ext cx="5715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Aksa Xiterz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0" y="1508760"/>
            <a:ext cx="5715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4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aksaxiterz.com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0" y="1819656"/>
            <a:ext cx="5715000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5D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Storefront lisensi digital dengan katalog, paket, cart checkout, QRIS/crypto/Binance Pay, voucher, license stock, dan admin tools.</a:t>
            </a:r>
            <a:endParaRPr lang="en-US" sz="1010" dirty="0"/>
          </a:p>
        </p:txBody>
      </p:sp>
      <p:sp>
        <p:nvSpPr>
          <p:cNvPr id="14" name="Text 12"/>
          <p:cNvSpPr/>
          <p:nvPr/>
        </p:nvSpPr>
        <p:spPr>
          <a:xfrm>
            <a:off x="5486400" y="1993392"/>
            <a:ext cx="57150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Peran: Full Stack Developer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 Stack: Laravel, MySQL, QRIS/Crypto API, CSS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4343400" y="2606040"/>
            <a:ext cx="7040880" cy="1417320"/>
          </a:xfrm>
          <a:prstGeom prst="roundRect">
            <a:avLst>
              <a:gd name="adj" fmla="val 5161"/>
            </a:avLst>
          </a:prstGeom>
          <a:solidFill>
            <a:srgbClr val="FBF7EF"/>
          </a:solidFill>
          <a:ln w="10160">
            <a:solidFill>
              <a:srgbClr val="D7CC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07992" y="27889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8A74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5276088" y="2788920"/>
            <a:ext cx="0" cy="1051560"/>
          </a:xfrm>
          <a:prstGeom prst="line">
            <a:avLst/>
          </a:prstGeom>
          <a:noFill/>
          <a:ln w="12700">
            <a:solidFill>
              <a:srgbClr val="D7CC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2770632"/>
            <a:ext cx="5715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Eduvest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486400" y="3154680"/>
            <a:ext cx="5715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4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eduvest-production.up.railway.app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0" y="3465576"/>
            <a:ext cx="5715000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5D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belajar saham/crypto dengan course, enrollment, progress materi, dashboard personal, profil, berita, FAQ, dan admin course.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5486400" y="3639312"/>
            <a:ext cx="57150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Peran: Full Stack Developer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 Stack: Laravel, MySQL, YouTube Embed API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4343400" y="4251960"/>
            <a:ext cx="7040880" cy="1417320"/>
          </a:xfrm>
          <a:prstGeom prst="roundRect">
            <a:avLst>
              <a:gd name="adj" fmla="val 5161"/>
            </a:avLst>
          </a:prstGeom>
          <a:solidFill>
            <a:srgbClr val="FBF7EF"/>
          </a:solidFill>
          <a:ln w="10160">
            <a:solidFill>
              <a:srgbClr val="D7CCB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07992" y="44348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8A74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5276088" y="4434840"/>
            <a:ext cx="0" cy="1051560"/>
          </a:xfrm>
          <a:prstGeom prst="line">
            <a:avLst/>
          </a:prstGeom>
          <a:noFill/>
          <a:ln w="12700">
            <a:solidFill>
              <a:srgbClr val="D7CC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4416552"/>
            <a:ext cx="5715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BRL Fashion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486400" y="4800600"/>
            <a:ext cx="5715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4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brl-fashion-production.up.railway.app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0" y="5111496"/>
            <a:ext cx="5715000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5D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 fashion dengan auth, katalog, kategori, detail produk, cart, buy now, checkout, validasi stok ukuran, dan admin panel.</a:t>
            </a:r>
            <a:endParaRPr lang="en-US" sz="1010" dirty="0"/>
          </a:p>
        </p:txBody>
      </p:sp>
      <p:sp>
        <p:nvSpPr>
          <p:cNvPr id="28" name="Text 26"/>
          <p:cNvSpPr/>
          <p:nvPr/>
        </p:nvSpPr>
        <p:spPr>
          <a:xfrm>
            <a:off x="5486400" y="5285232"/>
            <a:ext cx="57150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Peran: Full Stack Developer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 Stack: PHP, Laravel, Blade, MySQL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11292840" y="63550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A744E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AKBAR SALAHUDIN PURNOMO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543800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01400" y="2834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A74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155680" cy="0"/>
          </a:xfrm>
          <a:prstGeom prst="line">
            <a:avLst/>
          </a:prstGeom>
          <a:noFill/>
          <a:ln w="7620">
            <a:solidFill>
              <a:srgbClr val="D7CC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144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A74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AKSA XITERZ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Digital License Storefront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D6470"/>
                </a:solidFill>
              </a:rPr>
              <a:t>Storefront lisensi digital dengan katalog, cart checkout, multi-payment, dan auto delivery berbasis stok lisensi.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3154680"/>
            <a:ext cx="3886200" cy="1691640"/>
          </a:xfrm>
          <a:prstGeom prst="roundRect">
            <a:avLst>
              <a:gd name="adj" fmla="val 4324"/>
            </a:avLst>
          </a:prstGeom>
          <a:solidFill>
            <a:srgbClr val="FBF7EF"/>
          </a:solidFill>
          <a:ln w="10160">
            <a:solidFill>
              <a:srgbClr val="D7CC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401568"/>
            <a:ext cx="3401568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Katalog, kategori, search, dan product package
• Cart checkout + voucher preview
• QRIS Pakasir, direct crypto, dan Binance Pay
• License stock reservation dan auto delivery
• Admin: produk, paket, voucher, order, user, activity log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0" y="914400"/>
            <a:ext cx="2926080" cy="5394960"/>
          </a:xfrm>
          <a:prstGeom prst="roundRect">
            <a:avLst>
              <a:gd name="adj" fmla="val 2500"/>
            </a:avLst>
          </a:prstGeom>
          <a:solidFill>
            <a:srgbClr val="FFFDF8"/>
          </a:solidFill>
          <a:ln w="10160">
            <a:solidFill>
              <a:srgbClr val="D7CCBB"/>
            </a:solidFill>
            <a:prstDash val="solid"/>
          </a:ln>
        </p:spPr>
      </p:sp>
      <p:pic>
        <p:nvPicPr>
          <p:cNvPr id="12" name="Image 0" descr="/mnt/data/portfolio_assets/crops/aksa_hero_phone.png"/>
          <p:cNvPicPr>
            <a:picLocks noChangeAspect="1"/>
          </p:cNvPicPr>
          <p:nvPr/>
        </p:nvPicPr>
        <p:blipFill>
          <a:blip r:embed="rId3"/>
          <a:srcRect l="3254" r="3254"/>
          <a:stretch/>
        </p:blipFill>
        <p:spPr>
          <a:xfrm>
            <a:off x="6903720" y="960120"/>
            <a:ext cx="2834640" cy="53035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292840" y="63550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A744E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AKBAR SALAHUDIN PURNOMO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543800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01 - UI Flow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01400" y="2834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A74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155680" cy="0"/>
          </a:xfrm>
          <a:prstGeom prst="line">
            <a:avLst/>
          </a:prstGeom>
          <a:noFill/>
          <a:ln w="7620">
            <a:solidFill>
              <a:srgbClr val="D7CC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601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Aksa Xiterz</a:t>
            </a:r>
            <a:endParaRPr lang="en-US" sz="3100" dirty="0"/>
          </a:p>
          <a:p>
            <a:pPr marL="0" indent="0">
              <a:buNone/>
            </a:pPr>
            <a:r>
              <a:rPr lang="en-US" sz="3100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Interface Flow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713232" y="233172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D6470"/>
                </a:solidFill>
              </a:rPr>
              <a:t>Flow UI mencakup storefront, public downloads, guide/tutorial, payment modal, order tracking, dan license dashboard.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80560" y="822960"/>
            <a:ext cx="6766560" cy="2423160"/>
          </a:xfrm>
          <a:prstGeom prst="roundRect">
            <a:avLst>
              <a:gd name="adj" fmla="val 3019"/>
            </a:avLst>
          </a:prstGeom>
          <a:solidFill>
            <a:srgbClr val="FFFDF8"/>
          </a:solidFill>
          <a:ln w="10160">
            <a:solidFill>
              <a:srgbClr val="D7CCBB"/>
            </a:solidFill>
            <a:prstDash val="solid"/>
          </a:ln>
        </p:spPr>
      </p:sp>
      <p:pic>
        <p:nvPicPr>
          <p:cNvPr id="9" name="Image 0" descr="/mnt/data/portfolio_assets/crops/aksa_gallery.png"/>
          <p:cNvPicPr>
            <a:picLocks noChangeAspect="1"/>
          </p:cNvPicPr>
          <p:nvPr/>
        </p:nvPicPr>
        <p:blipFill>
          <a:blip r:embed="rId3"/>
          <a:srcRect t="21028" b="21028"/>
          <a:stretch/>
        </p:blipFill>
        <p:spPr>
          <a:xfrm>
            <a:off x="4526280" y="868680"/>
            <a:ext cx="6675120" cy="23317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480560" y="3474720"/>
            <a:ext cx="3337560" cy="2423160"/>
          </a:xfrm>
          <a:prstGeom prst="roundRect">
            <a:avLst>
              <a:gd name="adj" fmla="val 3019"/>
            </a:avLst>
          </a:prstGeom>
          <a:solidFill>
            <a:srgbClr val="FFFDF8"/>
          </a:solidFill>
          <a:ln w="10160">
            <a:solidFill>
              <a:srgbClr val="D7CCBB"/>
            </a:solidFill>
            <a:prstDash val="solid"/>
          </a:ln>
        </p:spPr>
      </p:sp>
      <p:pic>
        <p:nvPicPr>
          <p:cNvPr id="11" name="Image 1" descr="/mnt/data/portfolio_assets/crops/aksa_payment.png"/>
          <p:cNvPicPr>
            <a:picLocks noChangeAspect="1"/>
          </p:cNvPicPr>
          <p:nvPr/>
        </p:nvPicPr>
        <p:blipFill>
          <a:blip r:embed="rId4"/>
          <a:srcRect t="9574" b="9574"/>
          <a:stretch/>
        </p:blipFill>
        <p:spPr>
          <a:xfrm>
            <a:off x="4526280" y="3520440"/>
            <a:ext cx="3246120" cy="23317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909560" y="3474720"/>
            <a:ext cx="3337560" cy="2423160"/>
          </a:xfrm>
          <a:prstGeom prst="roundRect">
            <a:avLst>
              <a:gd name="adj" fmla="val 3019"/>
            </a:avLst>
          </a:prstGeom>
          <a:solidFill>
            <a:srgbClr val="FFFDF8"/>
          </a:solidFill>
          <a:ln w="10160">
            <a:solidFill>
              <a:srgbClr val="D7CCBB"/>
            </a:solidFill>
            <a:prstDash val="solid"/>
          </a:ln>
        </p:spPr>
      </p:sp>
      <p:pic>
        <p:nvPicPr>
          <p:cNvPr id="13" name="Image 2" descr="/mnt/data/portfolio_assets/crops/aksa_orders.png"/>
          <p:cNvPicPr>
            <a:picLocks noChangeAspect="1"/>
          </p:cNvPicPr>
          <p:nvPr/>
        </p:nvPicPr>
        <p:blipFill>
          <a:blip r:embed="rId5"/>
          <a:srcRect t="9574" b="9574"/>
          <a:stretch/>
        </p:blipFill>
        <p:spPr>
          <a:xfrm>
            <a:off x="7955280" y="3520440"/>
            <a:ext cx="3246120" cy="23317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292840" y="63550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A744E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AKBAR SALAHUDIN PURNOMO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543800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01 - Backend Depth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01400" y="2834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A74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155680" cy="0"/>
          </a:xfrm>
          <a:prstGeom prst="line">
            <a:avLst/>
          </a:prstGeom>
          <a:noFill/>
          <a:ln w="7620">
            <a:solidFill>
              <a:srgbClr val="D7CC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144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A74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AKSA XITERZ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&amp;</a:t>
            </a:r>
            <a:endParaRPr lang="en-US" sz="3200" dirty="0"/>
          </a:p>
          <a:p>
            <a:pPr marL="0" indent="0">
              <a:buNone/>
            </a:pPr>
            <a:r>
              <a:rPr lang="en-US" sz="3200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Logic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85800" y="2578608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5D6470"/>
                </a:solidFill>
              </a:rPr>
              <a:t>Highlight ini diambil dari struktur route, controller, service, dan migration repo GitHub Aksa Xiterz.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983480" y="960120"/>
            <a:ext cx="6126480" cy="749808"/>
          </a:xfrm>
          <a:prstGeom prst="roundRect">
            <a:avLst>
              <a:gd name="adj" fmla="val 9756"/>
            </a:avLst>
          </a:prstGeom>
          <a:solidFill>
            <a:srgbClr val="FBF7EF"/>
          </a:solidFill>
          <a:ln w="10160">
            <a:solidFill>
              <a:srgbClr val="D7CC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93792" y="112471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744E"/>
                </a:solidFill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06440" y="10789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F2933"/>
                </a:solidFill>
              </a:rPr>
              <a:t>Storefront &amp; Catalog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5806440" y="1325880"/>
            <a:ext cx="4800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D6470"/>
                </a:solidFill>
              </a:rPr>
              <a:t>Produk visible, kategori PC/Mobile/Android/iOS, search, product detail, dan fragment API untuk update daftar produk.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83480" y="1911096"/>
            <a:ext cx="6126480" cy="749808"/>
          </a:xfrm>
          <a:prstGeom prst="roundRect">
            <a:avLst>
              <a:gd name="adj" fmla="val 9756"/>
            </a:avLst>
          </a:prstGeom>
          <a:solidFill>
            <a:srgbClr val="FBF7EF"/>
          </a:solidFill>
          <a:ln w="10160">
            <a:solidFill>
              <a:srgbClr val="D7CC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93792" y="207568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744E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06440" y="20299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F2933"/>
                </a:solidFill>
              </a:rPr>
              <a:t>Checkout &amp; Payment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5806440" y="2276856"/>
            <a:ext cx="4800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D6470"/>
                </a:solidFill>
              </a:rPr>
              <a:t>Cart checkout dengan Pakasir QRIS, direct crypto, Binance Pay, pay-again, cancel order, dan status sync.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2862072"/>
            <a:ext cx="6126480" cy="749808"/>
          </a:xfrm>
          <a:prstGeom prst="roundRect">
            <a:avLst>
              <a:gd name="adj" fmla="val 9756"/>
            </a:avLst>
          </a:prstGeom>
          <a:solidFill>
            <a:srgbClr val="FBF7EF"/>
          </a:solidFill>
          <a:ln w="10160">
            <a:solidFill>
              <a:srgbClr val="D7CC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3792" y="302666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744E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06440" y="29809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F2933"/>
                </a:solidFill>
              </a:rPr>
              <a:t>License Delivery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5806440" y="3227832"/>
            <a:ext cx="4800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D6470"/>
                </a:solidFill>
              </a:rPr>
              <a:t>Stok lisensi di-reserve saat checkout, lalu fulfillment otomatis membuat license key setelah order paid.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83480" y="3813048"/>
            <a:ext cx="6126480" cy="749808"/>
          </a:xfrm>
          <a:prstGeom prst="roundRect">
            <a:avLst>
              <a:gd name="adj" fmla="val 9756"/>
            </a:avLst>
          </a:prstGeom>
          <a:solidFill>
            <a:srgbClr val="FBF7EF"/>
          </a:solidFill>
          <a:ln w="10160">
            <a:solidFill>
              <a:srgbClr val="D7CCB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93792" y="397764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744E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806440" y="39319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F2933"/>
                </a:solidFill>
              </a:rPr>
              <a:t>Admin Operations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5806440" y="4178808"/>
            <a:ext cx="4800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D6470"/>
                </a:solidFill>
              </a:rPr>
              <a:t>Dashboard admin untuk products, packages, license stock, downloads, vouchers, orders, users, dan activity log.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83480" y="4764024"/>
            <a:ext cx="6126480" cy="749808"/>
          </a:xfrm>
          <a:prstGeom prst="roundRect">
            <a:avLst>
              <a:gd name="adj" fmla="val 9756"/>
            </a:avLst>
          </a:prstGeom>
          <a:solidFill>
            <a:srgbClr val="FBF7EF"/>
          </a:solidFill>
          <a:ln w="10160">
            <a:solidFill>
              <a:srgbClr val="D7CCB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93792" y="492861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744E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806440" y="4882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F2933"/>
                </a:solidFill>
              </a:rPr>
              <a:t>Customer Self-Service</a:t>
            </a:r>
            <a:endParaRPr lang="en-US" sz="1280" dirty="0"/>
          </a:p>
        </p:txBody>
      </p:sp>
      <p:sp>
        <p:nvSpPr>
          <p:cNvPr id="28" name="Text 26"/>
          <p:cNvSpPr/>
          <p:nvPr/>
        </p:nvSpPr>
        <p:spPr>
          <a:xfrm>
            <a:off x="5806440" y="5129784"/>
            <a:ext cx="4800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D6470"/>
                </a:solidFill>
              </a:rPr>
              <a:t>Halaman licenses/orders, public downloads, guides, legal pages, Google login, dan BR Mods HWID reset.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" y="3858768"/>
            <a:ext cx="3858768" cy="1188720"/>
          </a:xfrm>
          <a:prstGeom prst="roundRect">
            <a:avLst>
              <a:gd name="adj" fmla="val 6154"/>
            </a:avLst>
          </a:prstGeom>
          <a:solidFill>
            <a:srgbClr val="F1E7DA"/>
          </a:solidFill>
          <a:ln w="10160">
            <a:solidFill>
              <a:srgbClr val="D7CCB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0416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</a:rPr>
              <a:t>Value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43434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8A744E"/>
                </a:solidFill>
              </a:rPr>
              <a:t>Bukan cuma tampilan web, tapi sudah mencakup flow transaksi, integrasi payment, inventory lisensi, dan admin </a:t>
            </a:r>
            <a:r>
              <a:rPr lang="en-US" sz="1100" dirty="0" err="1">
                <a:solidFill>
                  <a:srgbClr val="8A744E"/>
                </a:solidFill>
              </a:rPr>
              <a:t>operasionals</a:t>
            </a:r>
            <a:r>
              <a:rPr lang="en-US" sz="1100" dirty="0">
                <a:solidFill>
                  <a:srgbClr val="8A744E"/>
                </a:solidFill>
              </a:rPr>
              <a:t>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292840" y="63550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A744E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AKBAR SALAHUDIN PURNOMO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543800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01400" y="2834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A74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155680" cy="0"/>
          </a:xfrm>
          <a:prstGeom prst="line">
            <a:avLst/>
          </a:prstGeom>
          <a:noFill/>
          <a:ln w="7620">
            <a:solidFill>
              <a:srgbClr val="D7CC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144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A74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EDUVEST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4206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Platform</a:t>
            </a:r>
            <a:endParaRPr lang="en-US" sz="3100" dirty="0"/>
          </a:p>
          <a:p>
            <a:pPr marL="0" indent="0">
              <a:buNone/>
            </a:pPr>
            <a:r>
              <a:rPr lang="en-US" sz="3100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Stock &amp; Crypto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685800" y="269748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D6470"/>
                </a:solidFill>
              </a:rPr>
              <a:t>Platform pembelajaran investasi berbasis video dengan autentikasi, course progress, dan dashboard personal.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3886200"/>
            <a:ext cx="3886200" cy="1325880"/>
          </a:xfrm>
          <a:prstGeom prst="roundRect">
            <a:avLst>
              <a:gd name="adj" fmla="val 5517"/>
            </a:avLst>
          </a:prstGeom>
          <a:solidFill>
            <a:srgbClr val="FBF7EF"/>
          </a:solidFill>
          <a:ln w="10160">
            <a:solidFill>
              <a:srgbClr val="D7CC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069080"/>
            <a:ext cx="3401568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Autentikasi multi-user
• Dashboard belajar personal
• Eksplorasi course publik
• Integrasi YouTube Embed API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74920" y="1005840"/>
            <a:ext cx="5989320" cy="4572000"/>
          </a:xfrm>
          <a:prstGeom prst="roundRect">
            <a:avLst>
              <a:gd name="adj" fmla="val 1600"/>
            </a:avLst>
          </a:prstGeom>
          <a:solidFill>
            <a:srgbClr val="FFFDF8"/>
          </a:solidFill>
          <a:ln w="10160">
            <a:solidFill>
              <a:srgbClr val="D7CCBB"/>
            </a:solidFill>
            <a:prstDash val="solid"/>
          </a:ln>
        </p:spPr>
      </p:sp>
      <p:pic>
        <p:nvPicPr>
          <p:cNvPr id="12" name="Image 0" descr="/mnt/data/portfolio_assets/crops/eduvest_hero.png"/>
          <p:cNvPicPr>
            <a:picLocks noChangeAspect="1"/>
          </p:cNvPicPr>
          <p:nvPr/>
        </p:nvPicPr>
        <p:blipFill>
          <a:blip r:embed="rId3"/>
          <a:srcRect l="15790" r="15790"/>
          <a:stretch/>
        </p:blipFill>
        <p:spPr>
          <a:xfrm>
            <a:off x="5120640" y="1051560"/>
            <a:ext cx="5897880" cy="44805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292840" y="63550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A744E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AKBAR SALAHUDIN PURNOMO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543800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02 - Learning Journey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01400" y="2834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A74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155680" cy="0"/>
          </a:xfrm>
          <a:prstGeom prst="line">
            <a:avLst/>
          </a:prstGeom>
          <a:noFill/>
          <a:ln w="7620">
            <a:solidFill>
              <a:srgbClr val="D7CC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601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Eduvest</a:t>
            </a:r>
            <a:endParaRPr lang="en-US" sz="3100" dirty="0"/>
          </a:p>
          <a:p>
            <a:pPr marL="0" indent="0">
              <a:buNone/>
            </a:pPr>
            <a:r>
              <a:rPr lang="en-US" sz="3100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Journey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713232" y="233172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D6470"/>
                </a:solidFill>
              </a:rPr>
              <a:t>Fokus desain sistem: pengguna bisa memilih jalur belajar, melacak progres, dan kembali ke materi yang sedang diikuti.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06240" y="868680"/>
            <a:ext cx="7269480" cy="2423160"/>
          </a:xfrm>
          <a:prstGeom prst="roundRect">
            <a:avLst>
              <a:gd name="adj" fmla="val 3019"/>
            </a:avLst>
          </a:prstGeom>
          <a:solidFill>
            <a:srgbClr val="FFFDF8"/>
          </a:solidFill>
          <a:ln w="10160">
            <a:solidFill>
              <a:srgbClr val="D7CCBB"/>
            </a:solidFill>
            <a:prstDash val="solid"/>
          </a:ln>
        </p:spPr>
      </p:sp>
      <p:pic>
        <p:nvPicPr>
          <p:cNvPr id="9" name="Image 0" descr="/mnt/data/portfolio_assets/crops/eduvest_gallery.png"/>
          <p:cNvPicPr>
            <a:picLocks noChangeAspect="1"/>
          </p:cNvPicPr>
          <p:nvPr/>
        </p:nvPicPr>
        <p:blipFill>
          <a:blip r:embed="rId3"/>
          <a:srcRect t="12779" b="12779"/>
          <a:stretch/>
        </p:blipFill>
        <p:spPr>
          <a:xfrm>
            <a:off x="4251960" y="914400"/>
            <a:ext cx="7178040" cy="23317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206240" y="3611880"/>
            <a:ext cx="7269480" cy="2331720"/>
          </a:xfrm>
          <a:prstGeom prst="roundRect">
            <a:avLst>
              <a:gd name="adj" fmla="val 3137"/>
            </a:avLst>
          </a:prstGeom>
          <a:solidFill>
            <a:srgbClr val="FFFDF8"/>
          </a:solidFill>
          <a:ln w="10160">
            <a:solidFill>
              <a:srgbClr val="D7CCBB"/>
            </a:solidFill>
            <a:prstDash val="solid"/>
          </a:ln>
        </p:spPr>
      </p:sp>
      <p:pic>
        <p:nvPicPr>
          <p:cNvPr id="11" name="Image 1" descr="/mnt/data/portfolio_assets/crops/eduvest_dashboard.png"/>
          <p:cNvPicPr>
            <a:picLocks noChangeAspect="1"/>
          </p:cNvPicPr>
          <p:nvPr/>
        </p:nvPicPr>
        <p:blipFill>
          <a:blip r:embed="rId4"/>
          <a:srcRect t="16209" b="16209"/>
          <a:stretch/>
        </p:blipFill>
        <p:spPr>
          <a:xfrm>
            <a:off x="4251960" y="3657600"/>
            <a:ext cx="7178040" cy="22402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292840" y="63550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A744E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AKBAR SALAHUDIN PURNOMO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543800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01400" y="2834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A74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155680" cy="0"/>
          </a:xfrm>
          <a:prstGeom prst="line">
            <a:avLst/>
          </a:prstGeom>
          <a:noFill/>
          <a:ln w="7620">
            <a:solidFill>
              <a:srgbClr val="D7CC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144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A74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BRL FASHION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Fashion</a:t>
            </a:r>
            <a:endParaRPr lang="en-US" sz="3300" dirty="0"/>
          </a:p>
          <a:p>
            <a:pPr marL="0" indent="0">
              <a:buNone/>
            </a:pPr>
            <a:r>
              <a:rPr lang="en-US" sz="3300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E-Commerce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685800" y="257860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D6470"/>
                </a:solidFill>
              </a:rPr>
              <a:t>Aplikasi e-commerce fashion dengan katalog produk, variasi stok ukuran, keranjang belanja, checkout, dan admin panel.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3794760"/>
            <a:ext cx="3886200" cy="1325880"/>
          </a:xfrm>
          <a:prstGeom prst="roundRect">
            <a:avLst>
              <a:gd name="adj" fmla="val 5517"/>
            </a:avLst>
          </a:prstGeom>
          <a:solidFill>
            <a:srgbClr val="FBF7EF"/>
          </a:solidFill>
          <a:ln w="10160">
            <a:solidFill>
              <a:srgbClr val="D7CC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977640"/>
            <a:ext cx="3401568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Katalog dan detail produk
• Varian stok berdasarkan ukuran
• Cart, checkout, dan riwayat pesanan
• Admin panel untuk transaksi dan kategori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5029200" y="1051560"/>
            <a:ext cx="6172200" cy="4572000"/>
          </a:xfrm>
          <a:prstGeom prst="roundRect">
            <a:avLst>
              <a:gd name="adj" fmla="val 1600"/>
            </a:avLst>
          </a:prstGeom>
          <a:solidFill>
            <a:srgbClr val="FFFDF8"/>
          </a:solidFill>
          <a:ln w="10160">
            <a:solidFill>
              <a:srgbClr val="D7CCBB"/>
            </a:solidFill>
            <a:prstDash val="solid"/>
          </a:ln>
        </p:spPr>
      </p:sp>
      <p:pic>
        <p:nvPicPr>
          <p:cNvPr id="12" name="Image 0" descr="/mnt/data/portfolio_assets/crops/brl_hero.png"/>
          <p:cNvPicPr>
            <a:picLocks noChangeAspect="1"/>
          </p:cNvPicPr>
          <p:nvPr/>
        </p:nvPicPr>
        <p:blipFill>
          <a:blip r:embed="rId3"/>
          <a:srcRect l="16268" r="16268"/>
          <a:stretch/>
        </p:blipFill>
        <p:spPr>
          <a:xfrm>
            <a:off x="5074920" y="1097280"/>
            <a:ext cx="6080760" cy="44805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292840" y="63550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A744E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AKBAR SALAHUDIN PURNOMO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543800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03 - Commerce Flow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01400" y="2834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A74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11155680" cy="0"/>
          </a:xfrm>
          <a:prstGeom prst="line">
            <a:avLst/>
          </a:prstGeom>
          <a:noFill/>
          <a:ln w="7620">
            <a:solidFill>
              <a:srgbClr val="D7CC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601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BRL Fashion</a:t>
            </a:r>
            <a:endParaRPr lang="en-US" sz="3100" dirty="0"/>
          </a:p>
          <a:p>
            <a:pPr marL="0" indent="0">
              <a:buNone/>
            </a:pPr>
            <a:r>
              <a:rPr lang="en-US" sz="3100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Commerce Flow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713232" y="233172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D6470"/>
                </a:solidFill>
              </a:rPr>
              <a:t>Alur toko menampilkan katalog, detail produk, feedback, FAQ, chatbot, hingga checkout dan ringkasan order.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06240" y="777240"/>
            <a:ext cx="7178040" cy="1783080"/>
          </a:xfrm>
          <a:prstGeom prst="roundRect">
            <a:avLst>
              <a:gd name="adj" fmla="val 4103"/>
            </a:avLst>
          </a:prstGeom>
          <a:solidFill>
            <a:srgbClr val="FFFDF8"/>
          </a:solidFill>
          <a:ln w="10160">
            <a:solidFill>
              <a:srgbClr val="D7CCBB"/>
            </a:solidFill>
            <a:prstDash val="solid"/>
          </a:ln>
        </p:spPr>
      </p:sp>
      <p:pic>
        <p:nvPicPr>
          <p:cNvPr id="9" name="Image 0" descr="/mnt/data/portfolio_assets/crops/brl_gallery.png"/>
          <p:cNvPicPr>
            <a:picLocks noChangeAspect="1"/>
          </p:cNvPicPr>
          <p:nvPr/>
        </p:nvPicPr>
        <p:blipFill>
          <a:blip r:embed="rId3"/>
          <a:srcRect t="25687" b="25687"/>
          <a:stretch/>
        </p:blipFill>
        <p:spPr>
          <a:xfrm>
            <a:off x="4251960" y="822960"/>
            <a:ext cx="7086600" cy="1691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206240" y="2697480"/>
            <a:ext cx="3520440" cy="2423160"/>
          </a:xfrm>
          <a:prstGeom prst="roundRect">
            <a:avLst>
              <a:gd name="adj" fmla="val 3019"/>
            </a:avLst>
          </a:prstGeom>
          <a:solidFill>
            <a:srgbClr val="FFFDF8"/>
          </a:solidFill>
          <a:ln w="10160">
            <a:solidFill>
              <a:srgbClr val="D7CCBB"/>
            </a:solidFill>
            <a:prstDash val="solid"/>
          </a:ln>
        </p:spPr>
      </p:sp>
      <p:pic>
        <p:nvPicPr>
          <p:cNvPr id="11" name="Image 1" descr="/mnt/data/portfolio_assets/crops/brl_feedback.png"/>
          <p:cNvPicPr>
            <a:picLocks noChangeAspect="1"/>
          </p:cNvPicPr>
          <p:nvPr/>
        </p:nvPicPr>
        <p:blipFill>
          <a:blip r:embed="rId4"/>
          <a:srcRect l="14706" r="14706"/>
          <a:stretch/>
        </p:blipFill>
        <p:spPr>
          <a:xfrm>
            <a:off x="4251960" y="2743200"/>
            <a:ext cx="3429000" cy="23317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863840" y="2697480"/>
            <a:ext cx="3520440" cy="2423160"/>
          </a:xfrm>
          <a:prstGeom prst="roundRect">
            <a:avLst>
              <a:gd name="adj" fmla="val 3019"/>
            </a:avLst>
          </a:prstGeom>
          <a:solidFill>
            <a:srgbClr val="FFFDF8"/>
          </a:solidFill>
          <a:ln w="10160">
            <a:solidFill>
              <a:srgbClr val="D7CCBB"/>
            </a:solidFill>
            <a:prstDash val="solid"/>
          </a:ln>
        </p:spPr>
      </p:sp>
      <p:pic>
        <p:nvPicPr>
          <p:cNvPr id="13" name="Image 2" descr="/mnt/data/portfolio_assets/crops/brl_checkout.png"/>
          <p:cNvPicPr>
            <a:picLocks noChangeAspect="1"/>
          </p:cNvPicPr>
          <p:nvPr/>
        </p:nvPicPr>
        <p:blipFill>
          <a:blip r:embed="rId5"/>
          <a:srcRect l="14171" r="14171"/>
          <a:stretch/>
        </p:blipFill>
        <p:spPr>
          <a:xfrm>
            <a:off x="7909560" y="2743200"/>
            <a:ext cx="3429000" cy="23317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292840" y="63550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A744E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14300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Terima</a:t>
            </a:r>
            <a:endParaRPr lang="en-US" sz="5600" dirty="0"/>
          </a:p>
          <a:p>
            <a:pPr marL="0" indent="0">
              <a:buNone/>
            </a:pPr>
            <a:r>
              <a:rPr lang="en-US" sz="5600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Kasih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713232" y="38862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3"/>
                </a:solidFill>
              </a:rPr>
              <a:t>Tertarik untuk melihat implementasi kode atau berkolaborasi?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" y="431596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D6470"/>
                </a:solidFill>
              </a:rPr>
              <a:t>Jelajahi repositori lengkap proyek-proyek ini atau hubungi saya langsung.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13232" y="489204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FBF7EF"/>
          </a:solidFill>
          <a:ln w="10160">
            <a:solidFill>
              <a:srgbClr val="D7CC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10235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aksa.work    |    github.com/sxaksaa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akbarsalahudinpurnomo@gmail.com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0" y="6035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D6470"/>
                </a:solidFill>
              </a:rPr>
              <a:t>Portfolio slide deck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292840" y="63550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A744E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885</Words>
  <Application>Microsoft Office PowerPoint</Application>
  <PresentationFormat>Widescreen</PresentationFormat>
  <Paragraphs>156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- Akbar Salahudin Purnomo - HR Ready Natural</dc:title>
  <dc:subject>Portfolio - Akbar Salahudin Purnomo - HR Ready Natural</dc:subject>
  <dc:creator>OpenAI</dc:creator>
  <cp:lastModifiedBy>Akbar Salahudin Purnomo</cp:lastModifiedBy>
  <cp:revision>15</cp:revision>
  <dcterms:created xsi:type="dcterms:W3CDTF">2026-06-30T05:49:53Z</dcterms:created>
  <dcterms:modified xsi:type="dcterms:W3CDTF">2026-07-05T02:09:27Z</dcterms:modified>
</cp:coreProperties>
</file>